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EAB308"/>
                </a:solidFill>
              </a:defRPr>
            </a:pPr>
            <a:r>
              <a:t>EpiLog</a:t>
            </a:r>
          </a:p>
          <a:p>
            <a:pPr>
              <a:spcBef>
                <a:spcPts val="1200"/>
              </a:spcBef>
              <a:defRPr sz="2400" b="1">
                <a:solidFill>
                  <a:srgbClr val="F8FAFC"/>
                </a:solidFill>
              </a:defRPr>
            </a:pPr>
            <a:r>
              <a:t>The AI Travel Journal &amp; Intellectual Keepsake</a:t>
            </a:r>
          </a:p>
          <a:p>
            <a:pPr>
              <a:spcBef>
                <a:spcPts val="2400"/>
              </a:spcBef>
              <a:defRPr sz="1800" i="1">
                <a:solidFill>
                  <a:srgbClr val="94A3B8"/>
                </a:solidFill>
              </a:defRPr>
            </a:pPr>
            <a:r>
              <a:t>“A picture is worth a thousand words—let them write it for you.”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AB308"/>
                </a:solidFill>
              </a:defRPr>
            </a:pPr>
            <a:r>
              <a:t>EPILOG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Problem: Meaning Gets Lost in the Camera Roll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32004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800" b="1">
                <a:solidFill>
                  <a:srgbClr val="EAB308"/>
                </a:solidFill>
              </a:defRPr>
            </a:pPr>
            <a:r>
              <a:t>The Journaling Friction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Travelers want to record memories, but writing daily logs after 15,000 steps is exhausting. By day four, journals are abandoned.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2011680"/>
            <a:ext cx="32004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800" b="1">
                <a:solidFill>
                  <a:srgbClr val="EAB308"/>
                </a:solidFill>
              </a:defRPr>
            </a:pPr>
            <a:r>
              <a:t>The Photo Graveyard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Trips turn into 600+ mixed phone snaps and DSLR shots. They remain unorganized, uncontextualized, and rarely revisited.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2011680"/>
            <a:ext cx="32004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800" b="1">
                <a:solidFill>
                  <a:srgbClr val="EAB308"/>
                </a:solidFill>
              </a:defRPr>
            </a:pPr>
            <a:r>
              <a:t>Loss of Cultural Context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Months later, details fade: the name of the back-alley trattoria, the history of the facade, and what made the stop unique.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AB308"/>
                </a:solidFill>
              </a:defRPr>
            </a:pPr>
            <a:r>
              <a:t>EPILOG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Solution: Automated, Editorial Chronicles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sz="1600" b="1">
                <a:solidFill>
                  <a:srgbClr val="EAB308"/>
                </a:solidFill>
              </a:defRPr>
            </a:pPr>
            <a:r>
              <a:t>• Zero-Effort Capture: </a:t>
            </a:r>
            <a:r>
              <a:rPr b="0">
                <a:solidFill>
                  <a:srgbClr val="F8FAFC"/>
                </a:solidFill>
              </a:rPr>
              <a:t>Drop in a vacation photo folder. EpiLog parses timestamps and coordinates to reconstruct routes and timeline stops automatically.</a:t>
            </a:r>
          </a:p>
          <a:p>
            <a:pPr>
              <a:spcBef>
                <a:spcPts val="1400"/>
              </a:spcBef>
              <a:defRPr sz="1600" b="1">
                <a:solidFill>
                  <a:srgbClr val="EAB308"/>
                </a:solidFill>
              </a:defRPr>
            </a:pPr>
            <a:r>
              <a:t>• Multimodal Scene Intelligence: </a:t>
            </a:r>
            <a:r>
              <a:rPr b="0">
                <a:solidFill>
                  <a:srgbClr val="F8FAFC"/>
                </a:solidFill>
              </a:rPr>
              <a:t>Computer vision identifies landmarks, dishes, and activities, producing concise narrative journals without manual prompts.</a:t>
            </a:r>
          </a:p>
          <a:p>
            <a:pPr>
              <a:spcBef>
                <a:spcPts val="1400"/>
              </a:spcBef>
              <a:defRPr sz="1600" b="1">
                <a:solidFill>
                  <a:srgbClr val="EAB308"/>
                </a:solidFill>
              </a:defRPr>
            </a:pPr>
            <a:r>
              <a:t>• Reflections &amp; 'What I Learned': </a:t>
            </a:r>
            <a:r>
              <a:rPr b="0">
                <a:solidFill>
                  <a:srgbClr val="F8FAFC"/>
                </a:solidFill>
              </a:rPr>
              <a:t>Synthesizes architectural techniques, culinary origins, and cultural history into lasting intellectual takeaways.</a:t>
            </a:r>
          </a:p>
          <a:p>
            <a:pPr>
              <a:spcBef>
                <a:spcPts val="1400"/>
              </a:spcBef>
              <a:defRPr sz="1600" b="1">
                <a:solidFill>
                  <a:srgbClr val="EAB308"/>
                </a:solidFill>
              </a:defRPr>
            </a:pPr>
            <a:r>
              <a:t>• Historical Time Capsule: </a:t>
            </a:r>
            <a:r>
              <a:rPr b="0">
                <a:solidFill>
                  <a:srgbClr val="F8FAFC"/>
                </a:solidFill>
              </a:rPr>
              <a:t>Integrates major world events and headlines from those exact calendar dates, providing temporal context.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AB308"/>
                </a:solidFill>
              </a:defRPr>
            </a:pPr>
            <a:r>
              <a:t>EPILOG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Core Innovation: Intelligent Sensor 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600" b="1">
                <a:solidFill>
                  <a:srgbClr val="EAB308"/>
                </a:solidFill>
              </a:defRPr>
            </a:pPr>
            <a:r>
              <a:t>1. Temporal Alignment: </a:t>
            </a:r>
            <a:r>
              <a:rPr b="0">
                <a:solidFill>
                  <a:srgbClr val="F8FAFC"/>
                </a:solidFill>
              </a:rPr>
              <a:t>Creates a unified timeline by indexing universal EXIF timestamps across phone and camera files.</a:t>
            </a:r>
          </a:p>
          <a:p>
            <a:pPr>
              <a:spcBef>
                <a:spcPts val="1200"/>
              </a:spcBef>
              <a:defRPr sz="1600" b="1">
                <a:solidFill>
                  <a:srgbClr val="EAB308"/>
                </a:solidFill>
              </a:defRPr>
            </a:pPr>
            <a:r>
              <a:t>2. Proximity GPS Tagging: </a:t>
            </a:r>
            <a:r>
              <a:rPr b="0">
                <a:solidFill>
                  <a:srgbClr val="F8FAFC"/>
                </a:solidFill>
              </a:rPr>
              <a:t>Matches orphan DSLR shots to phone GPS anchors taken within temporal proximity (+/- 3 mins) to inherit coordinates.</a:t>
            </a:r>
          </a:p>
          <a:p>
            <a:pPr>
              <a:spcBef>
                <a:spcPts val="1200"/>
              </a:spcBef>
              <a:defRPr sz="1600" b="1">
                <a:solidFill>
                  <a:srgbClr val="EAB308"/>
                </a:solidFill>
              </a:defRPr>
            </a:pPr>
            <a:r>
              <a:t>3. VLM Visual Bridging: </a:t>
            </a:r>
            <a:r>
              <a:rPr b="0">
                <a:solidFill>
                  <a:srgbClr val="F8FAFC"/>
                </a:solidFill>
              </a:rPr>
              <a:t>When time gaps exist, a vision model compares scene traits to bridge GPS-less DSLR shots to accurate locations.</a:t>
            </a:r>
          </a:p>
          <a:p>
            <a:pPr>
              <a:spcBef>
                <a:spcPts val="1200"/>
              </a:spcBef>
              <a:defRPr sz="1600" b="1">
                <a:solidFill>
                  <a:srgbClr val="EAB308"/>
                </a:solidFill>
              </a:defRPr>
            </a:pPr>
            <a:r>
              <a:t>4. Editorial Curation: </a:t>
            </a:r>
            <a:r>
              <a:rPr b="0">
                <a:solidFill>
                  <a:srgbClr val="F8FAFC"/>
                </a:solidFill>
              </a:rPr>
              <a:t>Automatically surfaces high-resolution DSLR photos as hero imagery while retaining phone geodata.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AB308"/>
                </a:solidFill>
              </a:defRPr>
            </a:pPr>
            <a:r>
              <a:t>EPILOG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Product Deliverables: Screen to Print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32004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800" b="1">
                <a:solidFill>
                  <a:srgbClr val="EAB308"/>
                </a:solidFill>
              </a:defRPr>
            </a:pPr>
            <a:r>
              <a:t>Interactive Dashboard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Split-screen web workspace featuring route maps synchronized with an editable narrative journal feed.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2011680"/>
            <a:ext cx="32004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800" b="1">
                <a:solidFill>
                  <a:srgbClr val="EAB308"/>
                </a:solidFill>
              </a:defRPr>
            </a:pPr>
            <a:r>
              <a:t>Social Event Cards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1-click generation of editorial 9:16 vertical cards with route stamps, photos, and reflections for social channels.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2011680"/>
            <a:ext cx="32004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800" b="1">
                <a:solidFill>
                  <a:srgbClr val="EAB308"/>
                </a:solidFill>
              </a:defRPr>
            </a:pPr>
            <a:r>
              <a:t>Fine-Art Coffee Table Book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High-margin physical export: layflat binding, archival art paper, and automated typesetting for a bespoke volume.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AB308"/>
                </a:solidFill>
              </a:defRPr>
            </a:pPr>
            <a:r>
              <a:t>EPILOG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Business Model &amp; Monetization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600"/>
              </a:spcBef>
              <a:defRPr sz="1600" b="1">
                <a:solidFill>
                  <a:srgbClr val="EAB308"/>
                </a:solidFill>
              </a:defRPr>
            </a:pPr>
            <a:r>
              <a:t>• Freemium Digital App: </a:t>
            </a:r>
            <a:r>
              <a:rPr b="0">
                <a:solidFill>
                  <a:srgbClr val="F8FAFC"/>
                </a:solidFill>
              </a:rPr>
              <a:t>Free core route mapping and photo clusters. Premium unlocks full VLM reflections and high-res vector exports.</a:t>
            </a:r>
          </a:p>
          <a:p>
            <a:pPr>
              <a:spcBef>
                <a:spcPts val="1600"/>
              </a:spcBef>
              <a:defRPr sz="1600" b="1">
                <a:solidFill>
                  <a:srgbClr val="EAB308"/>
                </a:solidFill>
              </a:defRPr>
            </a:pPr>
            <a:r>
              <a:t>• High-Margin Physical Books: </a:t>
            </a:r>
            <a:r>
              <a:rPr b="0">
                <a:solidFill>
                  <a:srgbClr val="F8FAFC"/>
                </a:solidFill>
              </a:rPr>
              <a:t>Print-on-demand luxury monographs retailing at $120–$250+. Zero inventory risk with healthy unit margins.</a:t>
            </a:r>
          </a:p>
          <a:p>
            <a:pPr>
              <a:spcBef>
                <a:spcPts val="1600"/>
              </a:spcBef>
              <a:defRPr sz="1600" b="1">
                <a:solidFill>
                  <a:srgbClr val="EAB308"/>
                </a:solidFill>
              </a:defRPr>
            </a:pPr>
            <a:r>
              <a:t>• Travel Ecosystem Partnerships: </a:t>
            </a:r>
            <a:r>
              <a:rPr b="0">
                <a:solidFill>
                  <a:srgbClr val="F8FAFC"/>
                </a:solidFill>
              </a:rPr>
              <a:t>White-label or affiliate integrations with boutique agencies, safari operators, and airlines for post-trip recaps.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AB308"/>
                </a:solidFill>
              </a:defRPr>
            </a:pPr>
            <a:r>
              <a:t>EPILOG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Product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103628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>
              <a:defRPr sz="1600" b="1">
                <a:solidFill>
                  <a:srgbClr val="EAB308"/>
                </a:solidFill>
              </a:defRPr>
            </a:pPr>
            <a:r>
              <a:t>Phase 1: Web MVP</a:t>
            </a:r>
          </a:p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</a:defRPr>
            </a:pPr>
            <a:r>
              <a:t>Browser-side EXIF parsing, MapLibre route plotting, DBSCAN stop clustering, and Gemini 1.5 Flash pipeline.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383280"/>
            <a:ext cx="103628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>
              <a:defRPr sz="1600" b="1">
                <a:solidFill>
                  <a:srgbClr val="EAB308"/>
                </a:solidFill>
              </a:defRPr>
            </a:pPr>
            <a:r>
              <a:t>Phase 2: Desktop &amp; Print</a:t>
            </a:r>
          </a:p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</a:defRPr>
            </a:pPr>
            <a:r>
              <a:t>Tauri desktop app for managing RAW/DSLR libraries, paired with an automated Paged.js print-ready PDF generator.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754880"/>
            <a:ext cx="103628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>
              <a:defRPr sz="1600" b="1">
                <a:solidFill>
                  <a:srgbClr val="EAB308"/>
                </a:solidFill>
              </a:defRPr>
            </a:pPr>
            <a:r>
              <a:t>Phase 3: Mobile Native</a:t>
            </a:r>
          </a:p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</a:defRPr>
            </a:pPr>
            <a:r>
              <a:t>iOS &amp; Android apps enabling passive background geofencing, real-time stop suggestions, and direct camera roll sync.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EAB308"/>
                </a:solidFill>
              </a:defRPr>
            </a:pPr>
            <a:r>
              <a:t>EpiLog</a:t>
            </a:r>
          </a:p>
          <a:p>
            <a:pPr>
              <a:spcBef>
                <a:spcPts val="1200"/>
              </a:spcBef>
              <a:defRPr sz="2200" b="1">
                <a:solidFill>
                  <a:srgbClr val="F8FAFC"/>
                </a:solidFill>
              </a:defRPr>
            </a:pPr>
            <a:r>
              <a:t>Turning raw travel data into lasting personal literature.</a:t>
            </a:r>
          </a:p>
          <a:p>
            <a:pPr>
              <a:spcBef>
                <a:spcPts val="1600"/>
              </a:spcBef>
              <a:defRPr sz="1600" i="1">
                <a:solidFill>
                  <a:srgbClr val="94A3B8"/>
                </a:solidFill>
              </a:defRPr>
            </a:pPr>
            <a:r>
              <a:t>Your journey, remembered and understood.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